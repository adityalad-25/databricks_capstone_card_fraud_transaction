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handoutMasterIdLst>
    <p:handoutMasterId r:id="rId25"/>
  </p:handoutMasterIdLst>
  <p:sldIdLst>
    <p:sldId id="256" r:id="rId6"/>
    <p:sldId id="289" r:id="rId7"/>
    <p:sldId id="266" r:id="rId8"/>
    <p:sldId id="267" r:id="rId9"/>
    <p:sldId id="268" r:id="rId10"/>
    <p:sldId id="294" r:id="rId11"/>
    <p:sldId id="272" r:id="rId12"/>
    <p:sldId id="273" r:id="rId13"/>
    <p:sldId id="285" r:id="rId14"/>
    <p:sldId id="287" r:id="rId15"/>
    <p:sldId id="277" r:id="rId16"/>
    <p:sldId id="279" r:id="rId17"/>
    <p:sldId id="280" r:id="rId18"/>
    <p:sldId id="282" r:id="rId19"/>
    <p:sldId id="283" r:id="rId20"/>
    <p:sldId id="296" r:id="rId21"/>
    <p:sldId id="291" r:id="rId22"/>
    <p:sldId id="290" r:id="rId23"/>
    <p:sldId id="29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80"/>
    <a:srgbClr val="FFDF7D"/>
    <a:srgbClr val="66B3E4"/>
    <a:srgbClr val="ECECEC"/>
    <a:srgbClr val="7FA3BF"/>
    <a:srgbClr val="595959"/>
    <a:srgbClr val="F9F0E0"/>
    <a:srgbClr val="F2F7FA"/>
    <a:srgbClr val="E7E2CA"/>
    <a:srgbClr val="E1E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CF458B-C7DB-4BF3-A326-FB8556BA3970}" v="19" dt="2026-02-04T15:34:58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>
        <p:scale>
          <a:sx n="50" d="100"/>
          <a:sy n="50" d="100"/>
        </p:scale>
        <p:origin x="13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EA10B1E-4FA2-D72F-F444-DB648FFEB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t="1147" b="4270"/>
          <a:stretch/>
        </p:blipFill>
        <p:spPr>
          <a:xfrm>
            <a:off x="-28124" y="0"/>
            <a:ext cx="12220123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6931615-3EFD-406D-8CAB-500F498BBC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9891" y="3006522"/>
            <a:ext cx="8937171" cy="1421928"/>
          </a:xfrm>
          <a:noFill/>
        </p:spPr>
        <p:txBody>
          <a:bodyPr wrap="square" rtlCol="0">
            <a:spAutoFit/>
          </a:bodyPr>
          <a:lstStyle>
            <a:lvl1pPr>
              <a:defRPr lang="en-US" sz="4800" b="1" dirty="0">
                <a:solidFill>
                  <a:schemeClr val="tx2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 dirty="0"/>
              <a:t>Card Transaction Fraud Monitoring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4A541-3236-7C7A-108F-C328E38F3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934" y="323988"/>
            <a:ext cx="2323604" cy="66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B01B99F-2CE5-433C-8F7A-483D41C4A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27D409DF-402A-DD18-BFCE-888857314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B982187F-CBBE-F09C-0F6F-730E0F0B124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5456A7-BE66-D18D-4755-5BE1D37DDE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400" y="1822450"/>
            <a:ext cx="11125200" cy="4351338"/>
          </a:xfrm>
        </p:spPr>
        <p:txBody>
          <a:bodyPr>
            <a:normAutofit/>
          </a:bodyPr>
          <a:lstStyle>
            <a:lvl1pPr>
              <a:defRPr lang="en-US" sz="12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12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2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2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2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35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pos="73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1"/>
          <a:lstStyle>
            <a:lvl1pPr>
              <a:lnSpc>
                <a:spcPts val="1700"/>
              </a:lnSpc>
              <a:defRPr lang="en-US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438F9EE4-1525-DA32-B6BF-F9D4E4DA0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E9EC46A4-50CA-5032-642E-472F2C66E949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6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2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AEB0E49-39B0-037C-0357-6C4472DC15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E4B298F-D75D-0E89-ED3D-DF0CF1A87E27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57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7F8B13B-8E7C-F321-BF83-177D747B1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BB16B3F-018F-71E7-B239-96DA6F36DEB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5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F55D43F-875F-4E2B-82B9-5EEDDAEA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989299"/>
            <a:ext cx="8610601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18B4745-7445-43DB-B108-3CDCB28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3869024"/>
            <a:ext cx="8610602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424433-CA37-48A1-EF7E-E44DEC894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7B593DD1-E696-84F5-997E-395CB4B340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179C2830-1743-9FEA-4F66-BCE7925B9DB5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88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6A7051-5A82-D471-602E-39E158F6B1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1628252-EFFE-45BA-BB6B-80B43271D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242" y="1508588"/>
            <a:ext cx="5864980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994D909-A7BC-465C-8A9B-65471E73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3242" y="4388313"/>
            <a:ext cx="58649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21F3B-DFDD-3880-4A59-92315D909E94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chemeClr val="bg2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7DD45-CE2E-85E8-642D-93DED37DD3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2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D9C106-CE49-4F1B-A6DE-3C9818CAFB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1655302"/>
            <a:ext cx="5486399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BB916-CDFC-439C-B0EF-513AE7B06A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72201" y="1655302"/>
            <a:ext cx="5486398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8651CBE-E342-762C-71AB-7A346C0BD1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D37EA21-4965-A1A5-EFE5-F1DB9D9A9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CACE2F8E-F80A-F347-8E9C-243A79D7388E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7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4641-62E4-4217-A4FB-1461DCB3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436914"/>
            <a:ext cx="5533119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F8DFE-7699-41E5-ACEB-81719A7E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1141" y="1436914"/>
            <a:ext cx="5417458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4FF91B-5FE4-409D-BA7F-37376CD5E4A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2651506"/>
            <a:ext cx="5533119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DB344D-832A-4E14-93A2-EF0879A2EDA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1141" y="2663457"/>
            <a:ext cx="5417458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F8A07F5-F0F3-56A0-B462-8A048CE69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DD8A8A8-2642-F3FA-DCC7-296A6B23D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0A8FC8DD-D1CD-B223-1096-CE2AAC973F8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92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6CF0EE8-1D27-DB0B-D74F-2627C320CB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CBCC0C3-A39C-312F-C0F0-B965E11FFDA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0E2AFA92-4A8A-D692-CB16-A5351C9E5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62"/>
            <a:ext cx="5760164" cy="4106844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3A9ED4-9BDF-42B0-B98D-5F105B1AC1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6042" y="961005"/>
            <a:ext cx="8911647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dirty="0">
                <a:solidFill>
                  <a:srgbClr val="595959"/>
                </a:solidFill>
                <a:latin typeface="+mj-lt"/>
              </a:defRPr>
            </a:lvl1pPr>
          </a:lstStyle>
          <a:p>
            <a:pPr marL="0" lvl="0" indent="0"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90635A-C270-48A0-A1B0-C1B896E998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 marL="114300" indent="-342900">
              <a:buFont typeface="Wingdings" pitchFamily="2" charset="2"/>
              <a:buChar char="§"/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 marL="1085850" indent="-285750">
              <a:buFont typeface="Wingdings" pitchFamily="2" charset="2"/>
              <a:buChar char="§"/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 marL="1600200" indent="-285750"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7D-CC90-4232-9BFD-B2B1B29D3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163411"/>
            <a:ext cx="10515600" cy="1325563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Headline goes here</a:t>
            </a:r>
            <a:br>
              <a:rPr lang="en-US" dirty="0"/>
            </a:br>
            <a:r>
              <a:rPr lang="en-US" dirty="0"/>
              <a:t>Headline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252767-4743-47D6-B4D1-07FC2385D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2815546"/>
            <a:ext cx="1051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1611A3D-47D0-3647-0CCE-0CB7D32E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763F4705-5885-9139-7C1E-5E2F720F7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9314451A-6C5B-D5A1-9DD9-55A1359B67FC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CDA55D2-453F-4E7D-AF30-1542DF26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1469E54-C50A-4DB5-B104-9B9988317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8A5CEA-5F4E-4109-ACB7-808AE0D5B1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6569" y="2055542"/>
            <a:ext cx="5181599" cy="3813445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7916254B-43C5-9C82-7FF6-BC881992F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32BAEA48-FEC5-7F2A-1732-CFFB91C99D6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9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F8B00-12EF-4751-A034-D733BB7D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5B0E1B6-489C-4643-9FE5-9D4A936A7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7999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70DA0CC-8337-43E8-B632-01AC9639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B70154DA-9096-81F4-B455-E3499A1BD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3D440A3F-6F49-A806-CA5F-776CACB1FDFB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8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1379A390-F031-B6A4-9699-D7473C203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726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948A3-32FA-5533-16DA-635E26595B61}"/>
              </a:ext>
            </a:extLst>
          </p:cNvPr>
          <p:cNvSpPr/>
          <p:nvPr userDrawn="1"/>
        </p:nvSpPr>
        <p:spPr>
          <a:xfrm flipV="1">
            <a:off x="335168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7ABFF-7AC4-BAD1-41A4-E1FE5B8092EF}"/>
              </a:ext>
            </a:extLst>
          </p:cNvPr>
          <p:cNvSpPr/>
          <p:nvPr userDrawn="1"/>
        </p:nvSpPr>
        <p:spPr>
          <a:xfrm flipV="1">
            <a:off x="53327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63FEE-DF85-5D77-1E01-49124A2CEAF5}"/>
              </a:ext>
            </a:extLst>
          </p:cNvPr>
          <p:cNvSpPr/>
          <p:nvPr userDrawn="1"/>
        </p:nvSpPr>
        <p:spPr>
          <a:xfrm flipV="1">
            <a:off x="617009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3896-D7CD-93EE-8417-E2C2E847A910}"/>
              </a:ext>
            </a:extLst>
          </p:cNvPr>
          <p:cNvSpPr/>
          <p:nvPr userDrawn="1"/>
        </p:nvSpPr>
        <p:spPr>
          <a:xfrm flipV="1">
            <a:off x="8988503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2ACBE6E-5DAE-5B6C-1E92-11C9C66233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6182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DCB66B-4DA5-68F3-EAAE-A7B0A4F3B1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8023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416EDE06-9533-67FB-BF24-DF6C76E3E6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9864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690D0B6E-A10C-4C7A-3858-68AF26206F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17060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7A05C422-6C2D-D524-06F6-FEBC6355E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423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B1E9743-4863-A723-9C60-5FC5D3DBE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64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D805F55-EF87-C927-683C-402E3B4349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105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18E5AB-5357-32EC-1C6F-7497D78CA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9465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8394A-EAF3-AA74-A443-B84109539DEE}"/>
              </a:ext>
            </a:extLst>
          </p:cNvPr>
          <p:cNvSpPr/>
          <p:nvPr userDrawn="1"/>
        </p:nvSpPr>
        <p:spPr>
          <a:xfrm>
            <a:off x="123278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215128-DC01-82B5-FF95-CD17B9ACB12C}"/>
              </a:ext>
            </a:extLst>
          </p:cNvPr>
          <p:cNvSpPr/>
          <p:nvPr userDrawn="1"/>
        </p:nvSpPr>
        <p:spPr>
          <a:xfrm>
            <a:off x="405119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91DFC-E616-7C47-DF0B-7E06270BF99C}"/>
              </a:ext>
            </a:extLst>
          </p:cNvPr>
          <p:cNvSpPr/>
          <p:nvPr userDrawn="1"/>
        </p:nvSpPr>
        <p:spPr>
          <a:xfrm>
            <a:off x="686960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168DF-9E56-0C0D-7485-F28F78F2D2C0}"/>
              </a:ext>
            </a:extLst>
          </p:cNvPr>
          <p:cNvSpPr/>
          <p:nvPr userDrawn="1"/>
        </p:nvSpPr>
        <p:spPr>
          <a:xfrm>
            <a:off x="9688017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FB3665BC-C3D4-CE79-80F3-7F34FA3ECD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234" y="3298206"/>
            <a:ext cx="2264685" cy="42556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bold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E06ACF8C-308D-25A7-590F-09AAE35138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644" y="3298206"/>
            <a:ext cx="2264685" cy="33193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403A7C49-0A7D-6B23-80B7-E91B87827A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1054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9F247137-B811-1C0C-3ECF-8920F2723A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9465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E57E6F6-95E1-BB44-5A8A-95D03F02D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6B00E7C7-88E6-A7F9-7356-C605C6E380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3BA9357F-11E9-B623-DB32-AA16F0336D1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56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lur&#10;&#10;Description automatically generated">
            <a:extLst>
              <a:ext uri="{FF2B5EF4-FFF2-40B4-BE49-F238E27FC236}">
                <a16:creationId xmlns:a16="http://schemas.microsoft.com/office/drawing/2014/main" id="{EF438032-1F77-BBEA-C7C7-8ED95C652F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EB829-6CD0-4395-A39D-7E253A77E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2435" y="2765913"/>
            <a:ext cx="3601189" cy="13261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4C7068-0752-FBFE-5D91-4C5EF463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435" y="4233333"/>
            <a:ext cx="4293054" cy="664810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FA6A43-0AD4-BED3-13C7-0AF5B9BB3FF3}"/>
              </a:ext>
            </a:extLst>
          </p:cNvPr>
          <p:cNvSpPr txBox="1"/>
          <p:nvPr userDrawn="1"/>
        </p:nvSpPr>
        <p:spPr>
          <a:xfrm>
            <a:off x="3048000" y="642330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spc="50" baseline="0" dirty="0" err="1">
                <a:solidFill>
                  <a:srgbClr val="595959"/>
                </a:solidFill>
                <a:effectLst/>
                <a:latin typeface="Frutiger 45 Light" pitchFamily="2" charset="0"/>
              </a:rPr>
              <a:t>LTIMindtree</a:t>
            </a:r>
            <a:r>
              <a:rPr lang="en-US" sz="1000" b="0" i="0" spc="50" baseline="0" dirty="0">
                <a:solidFill>
                  <a:srgbClr val="595959"/>
                </a:solidFill>
                <a:effectLst/>
                <a:latin typeface="Frutiger 45 Light" pitchFamily="2" charset="0"/>
              </a:rPr>
              <a:t> Limited is a subsidiary of Larsen &amp; Toubro Limited</a:t>
            </a:r>
            <a:endParaRPr lang="en-US" sz="1000" b="0" kern="1200" spc="50" baseline="0" dirty="0">
              <a:solidFill>
                <a:srgbClr val="595959"/>
              </a:solidFill>
              <a:latin typeface="Frutiger 45 Light" pitchFamily="2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C452BF-B975-E66F-DD59-26D7F10461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6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3685D-D505-42E6-B2A3-1B26BC79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65125"/>
            <a:ext cx="108857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0300D-8B9D-444F-97B8-8F7D7E3A3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825625"/>
            <a:ext cx="108857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DB723-1905-4E83-9D47-D0B5CFAA7945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4E6E1E-7055-8D1B-4C37-9DCF88F218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Box 1073742684">
            <a:extLst>
              <a:ext uri="{FF2B5EF4-FFF2-40B4-BE49-F238E27FC236}">
                <a16:creationId xmlns:a16="http://schemas.microsoft.com/office/drawing/2014/main" id="{CB09C83E-2E41-0B4B-7535-36A14EDE4624}"/>
              </a:ext>
            </a:extLst>
          </p:cNvPr>
          <p:cNvSpPr txBox="1"/>
          <p:nvPr userDrawn="1"/>
        </p:nvSpPr>
        <p:spPr>
          <a:xfrm>
            <a:off x="4620260" y="3278188"/>
            <a:ext cx="2951480" cy="3016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561BA-C7F5-9336-C8B6-9C52C6E480B1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3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66" r:id="rId4"/>
    <p:sldLayoutId id="2147483665" r:id="rId5"/>
    <p:sldLayoutId id="2147483651" r:id="rId6"/>
    <p:sldLayoutId id="2147483660" r:id="rId7"/>
    <p:sldLayoutId id="2147483652" r:id="rId8"/>
    <p:sldLayoutId id="2147483653" r:id="rId9"/>
    <p:sldLayoutId id="2147483654" r:id="rId10"/>
    <p:sldLayoutId id="2147483658" r:id="rId11"/>
    <p:sldLayoutId id="2147483656" r:id="rId12"/>
    <p:sldLayoutId id="2147483657" r:id="rId13"/>
    <p:sldLayoutId id="2147483664" r:id="rId14"/>
    <p:sldLayoutId id="2147483663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E82882D-F3C1-4C31-B151-940483136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891" y="2588510"/>
            <a:ext cx="8937171" cy="1421928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Frutiger LT Pro 55 Roman" panose="020B0602020204020204"/>
              </a:rPr>
              <a:t>Card Transaction Fraud Monitoring</a:t>
            </a:r>
          </a:p>
        </p:txBody>
      </p:sp>
    </p:spTree>
    <p:extLst>
      <p:ext uri="{BB962C8B-B14F-4D97-AF65-F5344CB8AC3E}">
        <p14:creationId xmlns:p14="http://schemas.microsoft.com/office/powerpoint/2010/main" val="24583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E39A79-7633-4C46-28C0-C4C8B853E487}"/>
              </a:ext>
            </a:extLst>
          </p:cNvPr>
          <p:cNvSpPr txBox="1"/>
          <p:nvPr/>
        </p:nvSpPr>
        <p:spPr>
          <a:xfrm>
            <a:off x="247570" y="641220"/>
            <a:ext cx="9317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TEAM MEMBERS</a:t>
            </a:r>
          </a:p>
          <a:p>
            <a:endParaRPr lang="en-US" sz="3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D95F59-F83D-4B3A-7C14-A7A1D034F2CA}"/>
              </a:ext>
            </a:extLst>
          </p:cNvPr>
          <p:cNvSpPr/>
          <p:nvPr/>
        </p:nvSpPr>
        <p:spPr>
          <a:xfrm>
            <a:off x="381965" y="1566078"/>
            <a:ext cx="9317620" cy="42594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89386-EBDD-6D30-7907-E647720A664E}"/>
              </a:ext>
            </a:extLst>
          </p:cNvPr>
          <p:cNvSpPr txBox="1"/>
          <p:nvPr/>
        </p:nvSpPr>
        <p:spPr>
          <a:xfrm>
            <a:off x="577448" y="1841549"/>
            <a:ext cx="8657863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800" b="1" dirty="0" err="1"/>
              <a:t>Siyaram</a:t>
            </a:r>
            <a:r>
              <a:rPr lang="en-US" sz="2800" b="1" dirty="0"/>
              <a:t> Sharma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800" b="1" dirty="0"/>
              <a:t>Abhishek Bapat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800" b="1" dirty="0"/>
              <a:t>Aditya Lad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800" b="1" dirty="0"/>
              <a:t>Satakshi Singh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800" b="1" dirty="0"/>
              <a:t>Shreya </a:t>
            </a:r>
            <a:r>
              <a:rPr lang="en-US" sz="2800" b="1" dirty="0" err="1"/>
              <a:t>Parjane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22076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D95DAC-10C9-34C5-B62F-8B2EF4026641}"/>
              </a:ext>
            </a:extLst>
          </p:cNvPr>
          <p:cNvSpPr txBox="1"/>
          <p:nvPr/>
        </p:nvSpPr>
        <p:spPr>
          <a:xfrm>
            <a:off x="393539" y="503365"/>
            <a:ext cx="6879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86CB03-F2B1-B435-ACDC-469C960035FB}"/>
              </a:ext>
            </a:extLst>
          </p:cNvPr>
          <p:cNvSpPr/>
          <p:nvPr/>
        </p:nvSpPr>
        <p:spPr>
          <a:xfrm>
            <a:off x="393539" y="1232374"/>
            <a:ext cx="11331616" cy="5346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29D09-4FEB-A72F-703E-A3DC9C8EBE29}"/>
              </a:ext>
            </a:extLst>
          </p:cNvPr>
          <p:cNvSpPr txBox="1"/>
          <p:nvPr/>
        </p:nvSpPr>
        <p:spPr>
          <a:xfrm>
            <a:off x="466845" y="1344016"/>
            <a:ext cx="11150761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bank operates across multiple digital and physical payment channels, generating a very high volume of card transactions each day.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Continuous arrival of these transactions into cloud storage creates a fast‑moving environment that demands scalable, modern data processing.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Existing systems lack the capability to handle real‑time ingestion, low‑latency processing, and large‑scale analytics efficiently.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Fraud analysts are unable to access timely, trustworthy, analytics‑ready data, limiting effective fraud detection and operational response.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bank requires a unified Databricks Lakehouse platform that supports scalable ingestion, strong governance, streamlined pipelines, and delivers curated datasets for advanced fraud analytics and BI reporting.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71504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40F8DD-2B33-02E3-C100-AC2E90CDC928}"/>
              </a:ext>
            </a:extLst>
          </p:cNvPr>
          <p:cNvSpPr txBox="1"/>
          <p:nvPr/>
        </p:nvSpPr>
        <p:spPr>
          <a:xfrm>
            <a:off x="385823" y="407085"/>
            <a:ext cx="8715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SOLUTION STRATEGY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BECFE3-700D-1DFD-7794-404CCD42A2B5}"/>
              </a:ext>
            </a:extLst>
          </p:cNvPr>
          <p:cNvSpPr/>
          <p:nvPr/>
        </p:nvSpPr>
        <p:spPr>
          <a:xfrm>
            <a:off x="385823" y="1003300"/>
            <a:ext cx="11420354" cy="53686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EC3580-25D1-2400-1FA6-2A371321AF2E}"/>
              </a:ext>
            </a:extLst>
          </p:cNvPr>
          <p:cNvSpPr txBox="1"/>
          <p:nvPr/>
        </p:nvSpPr>
        <p:spPr>
          <a:xfrm>
            <a:off x="385823" y="930305"/>
            <a:ext cx="11420354" cy="4670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Adopt the Databricks Lakehouse architecture to unify near–real-time ingestion, scalable processing, governance, and analytics in a single platform.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Ingest streaming transaction files using Auto Loader with Structured Streaming, ensuring continuous, fault‑tolerant, and efficient data flow from cloud storage.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Implement a Bronze–Silver–Gold layered design to separate raw ingestion, refined transformation, and analytics‑ready datasets for fraud monitoring.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Build a governed Gold‑layer star schema (fact + dimension tables) optimized for fraud analytics, reporting, and high‑performance BI queries.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Expose BI‑ready curated data through Databricks SQL Warehouse, integrating with Power BI dashboards to deliver real‑time fraud insights to analysts and business users.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0284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343FD8-A580-AADE-ECAE-FCE9AF2CC477}"/>
              </a:ext>
            </a:extLst>
          </p:cNvPr>
          <p:cNvSpPr txBox="1"/>
          <p:nvPr/>
        </p:nvSpPr>
        <p:spPr>
          <a:xfrm>
            <a:off x="439838" y="344882"/>
            <a:ext cx="8738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ARCHITECTURE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DA02B-8813-D411-FC69-AE4A19013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38" y="868102"/>
            <a:ext cx="10613985" cy="5550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EA0347-4512-B881-7D38-BC216A62F62B}"/>
              </a:ext>
            </a:extLst>
          </p:cNvPr>
          <p:cNvSpPr txBox="1"/>
          <p:nvPr/>
        </p:nvSpPr>
        <p:spPr>
          <a:xfrm>
            <a:off x="3912243" y="6418286"/>
            <a:ext cx="248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1. Architecture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01759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1A61B6-6CA8-925D-C0DC-E4F8740612F4}"/>
              </a:ext>
            </a:extLst>
          </p:cNvPr>
          <p:cNvSpPr txBox="1"/>
          <p:nvPr/>
        </p:nvSpPr>
        <p:spPr>
          <a:xfrm>
            <a:off x="336513" y="437885"/>
            <a:ext cx="6620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DATASET OVERVIEW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C7EF9-D5C3-B4A2-3A67-408923DB3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13" y="889636"/>
            <a:ext cx="3124636" cy="5220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291323-A5A7-5CDF-1C93-372FA039B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696" y="1165808"/>
            <a:ext cx="2257740" cy="21720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B9CF18-BD72-2071-B0AB-2B3C2A671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14" y="1041711"/>
            <a:ext cx="2343477" cy="24201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ADFFA1-3AF4-DC9F-8863-4E2EDDD97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090" y="4489905"/>
            <a:ext cx="2514951" cy="1400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32DB80-98B2-44E0-F0A7-03C4CCE513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13" y="4013604"/>
            <a:ext cx="2343477" cy="21243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6A8066A-5035-DAFC-0F70-735AA0E8FA18}"/>
              </a:ext>
            </a:extLst>
          </p:cNvPr>
          <p:cNvSpPr txBox="1"/>
          <p:nvPr/>
        </p:nvSpPr>
        <p:spPr>
          <a:xfrm>
            <a:off x="545342" y="6180916"/>
            <a:ext cx="249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 2. </a:t>
            </a:r>
            <a:r>
              <a:rPr lang="en-US" dirty="0" err="1"/>
              <a:t>batch_transactions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0EF48E-5E45-5BB7-7340-BF475F98E4BF}"/>
              </a:ext>
            </a:extLst>
          </p:cNvPr>
          <p:cNvSpPr txBox="1"/>
          <p:nvPr/>
        </p:nvSpPr>
        <p:spPr>
          <a:xfrm>
            <a:off x="3949145" y="3480480"/>
            <a:ext cx="2968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3. </a:t>
            </a:r>
            <a:r>
              <a:rPr lang="en-US" dirty="0" err="1"/>
              <a:t>customer_master_new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802944-1F51-9B37-9402-1CA4EB42CA70}"/>
              </a:ext>
            </a:extLst>
          </p:cNvPr>
          <p:cNvSpPr txBox="1"/>
          <p:nvPr/>
        </p:nvSpPr>
        <p:spPr>
          <a:xfrm>
            <a:off x="3949145" y="6142175"/>
            <a:ext cx="3124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4. </a:t>
            </a:r>
            <a:r>
              <a:rPr lang="en-US" dirty="0" err="1"/>
              <a:t>merchant_blacklist_new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11E057-F9B4-E9D0-972C-438DD7CFF2F7}"/>
              </a:ext>
            </a:extLst>
          </p:cNvPr>
          <p:cNvSpPr txBox="1"/>
          <p:nvPr/>
        </p:nvSpPr>
        <p:spPr>
          <a:xfrm>
            <a:off x="7503006" y="3480480"/>
            <a:ext cx="326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5. </a:t>
            </a:r>
            <a:r>
              <a:rPr lang="en-US" dirty="0" err="1"/>
              <a:t>merchant_master_new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E4E6F9-25F6-B1D2-DFE6-26AA2CBDF713}"/>
              </a:ext>
            </a:extLst>
          </p:cNvPr>
          <p:cNvSpPr txBox="1"/>
          <p:nvPr/>
        </p:nvSpPr>
        <p:spPr>
          <a:xfrm>
            <a:off x="7674013" y="6240979"/>
            <a:ext cx="2343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 6. </a:t>
            </a:r>
            <a:r>
              <a:rPr lang="en-US" dirty="0" err="1"/>
              <a:t>fx_rates_new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495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8ED05B-E29B-730E-5CB0-661AFBBCE2DD}"/>
              </a:ext>
            </a:extLst>
          </p:cNvPr>
          <p:cNvSpPr txBox="1"/>
          <p:nvPr/>
        </p:nvSpPr>
        <p:spPr>
          <a:xfrm>
            <a:off x="464837" y="629062"/>
            <a:ext cx="7141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STAR SCHEMA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6AC70-846B-D6A2-AF0C-5CF80CD68E11}"/>
              </a:ext>
            </a:extLst>
          </p:cNvPr>
          <p:cNvSpPr txBox="1"/>
          <p:nvPr/>
        </p:nvSpPr>
        <p:spPr>
          <a:xfrm>
            <a:off x="4271058" y="6377651"/>
            <a:ext cx="261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7. Star Schema</a:t>
            </a:r>
            <a:endParaRPr lang="en-IN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6471288-CB6E-9627-F6BD-218F69E6A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37" y="1090727"/>
            <a:ext cx="10228319" cy="5135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7280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8F8CB7-0A19-F7E5-164F-F2F7600EFEF8}"/>
              </a:ext>
            </a:extLst>
          </p:cNvPr>
          <p:cNvSpPr txBox="1"/>
          <p:nvPr/>
        </p:nvSpPr>
        <p:spPr>
          <a:xfrm>
            <a:off x="150686" y="468167"/>
            <a:ext cx="8981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AZURE DATA LAKE STORAGE (ADLS) </a:t>
            </a:r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C01B24-125D-9854-EF3C-F72E13EE2C21}"/>
              </a:ext>
            </a:extLst>
          </p:cNvPr>
          <p:cNvSpPr/>
          <p:nvPr/>
        </p:nvSpPr>
        <p:spPr>
          <a:xfrm>
            <a:off x="234401" y="1040352"/>
            <a:ext cx="11806913" cy="54445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E2D11-6A32-1B84-2075-03EE2043E466}"/>
              </a:ext>
            </a:extLst>
          </p:cNvPr>
          <p:cNvSpPr txBox="1"/>
          <p:nvPr/>
        </p:nvSpPr>
        <p:spPr>
          <a:xfrm>
            <a:off x="224362" y="1078097"/>
            <a:ext cx="58297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ADLS : central landing zone for transactional and reference data, offering scalable, durable, and cost‑efficient storage.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Supports continuous ingestion using Auto Loader, enabling automatic file detection, historical backfill, and incremental processing.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Schema is inferred and evolves automatically, allowing new columns or structural changes without ingestion failures.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Ensures reliability and governance through high availability, secure IAM‑based access, and preservation of raw files for audit and replay needs.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Bronze layer, data from ADLS is ingested exactly as received into Delta, enabling decoupling of producers/consumers and efficient reprocessing aligned with Medallion Architecture.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146B44-209E-5381-6013-C633330BBD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979"/>
          <a:stretch>
            <a:fillRect/>
          </a:stretch>
        </p:blipFill>
        <p:spPr>
          <a:xfrm>
            <a:off x="6291926" y="1224506"/>
            <a:ext cx="5511605" cy="47036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FFA567-A5E7-49A4-3EE7-C75668FFFCF6}"/>
              </a:ext>
            </a:extLst>
          </p:cNvPr>
          <p:cNvSpPr txBox="1"/>
          <p:nvPr/>
        </p:nvSpPr>
        <p:spPr>
          <a:xfrm>
            <a:off x="7190129" y="5981023"/>
            <a:ext cx="3345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 8. Creating Storage Account</a:t>
            </a:r>
          </a:p>
        </p:txBody>
      </p:sp>
    </p:spTree>
    <p:extLst>
      <p:ext uri="{BB962C8B-B14F-4D97-AF65-F5344CB8AC3E}">
        <p14:creationId xmlns:p14="http://schemas.microsoft.com/office/powerpoint/2010/main" val="3169265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D62F3E-9667-9768-7ED4-BDBE37FD0E3D}"/>
              </a:ext>
            </a:extLst>
          </p:cNvPr>
          <p:cNvSpPr txBox="1"/>
          <p:nvPr/>
        </p:nvSpPr>
        <p:spPr>
          <a:xfrm>
            <a:off x="152400" y="436222"/>
            <a:ext cx="726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Enabling Hierarchical Namespace and Storage Account Creation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96F54-88C2-4A30-24E4-B4FD5424E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57118"/>
            <a:ext cx="6131880" cy="1544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B5A4D5-C5DE-657F-CCCF-28FFFE1D7AFC}"/>
              </a:ext>
            </a:extLst>
          </p:cNvPr>
          <p:cNvSpPr txBox="1"/>
          <p:nvPr/>
        </p:nvSpPr>
        <p:spPr>
          <a:xfrm>
            <a:off x="1110647" y="3001225"/>
            <a:ext cx="3935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9. Enabling Hierarchical Namespace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EC704C-9B50-7820-6272-40BC62193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595989"/>
            <a:ext cx="6131880" cy="2295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8374F7-6376-09BE-CA39-1A088FD52969}"/>
              </a:ext>
            </a:extLst>
          </p:cNvPr>
          <p:cNvSpPr txBox="1"/>
          <p:nvPr/>
        </p:nvSpPr>
        <p:spPr>
          <a:xfrm>
            <a:off x="671332" y="5891514"/>
            <a:ext cx="4618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10 . Successful Creation of Storage Account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2FA0CD-FCAF-1F86-5706-2A9027DA78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953"/>
          <a:stretch>
            <a:fillRect/>
          </a:stretch>
        </p:blipFill>
        <p:spPr>
          <a:xfrm>
            <a:off x="7145963" y="2055662"/>
            <a:ext cx="4443757" cy="24579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330D40-EB1F-A6BF-6A8C-BAD8A4806F6F}"/>
              </a:ext>
            </a:extLst>
          </p:cNvPr>
          <p:cNvSpPr txBox="1"/>
          <p:nvPr/>
        </p:nvSpPr>
        <p:spPr>
          <a:xfrm>
            <a:off x="8469831" y="4559085"/>
            <a:ext cx="214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 11. File Hierarchy</a:t>
            </a:r>
          </a:p>
        </p:txBody>
      </p:sp>
    </p:spTree>
    <p:extLst>
      <p:ext uri="{BB962C8B-B14F-4D97-AF65-F5344CB8AC3E}">
        <p14:creationId xmlns:p14="http://schemas.microsoft.com/office/powerpoint/2010/main" val="2740035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0F0704-DFC1-8579-47DC-A2759D947745}"/>
              </a:ext>
            </a:extLst>
          </p:cNvPr>
          <p:cNvSpPr txBox="1"/>
          <p:nvPr/>
        </p:nvSpPr>
        <p:spPr>
          <a:xfrm>
            <a:off x="300368" y="439045"/>
            <a:ext cx="7974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DATA UPLOADATION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35AA6-8101-10EA-3917-82C9F2B36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68" y="900710"/>
            <a:ext cx="5943600" cy="2683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31CC3D-D08A-4F93-5AFA-7B45D85985F7}"/>
              </a:ext>
            </a:extLst>
          </p:cNvPr>
          <p:cNvSpPr txBox="1"/>
          <p:nvPr/>
        </p:nvSpPr>
        <p:spPr>
          <a:xfrm>
            <a:off x="992047" y="3584220"/>
            <a:ext cx="4120588" cy="381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 12. Transaction Files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0F2BE8-BBB6-031F-6338-08CF13E19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73" y="4213185"/>
            <a:ext cx="5758795" cy="1837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72D6AA-E4CD-6635-B2CC-C9FE714056DD}"/>
              </a:ext>
            </a:extLst>
          </p:cNvPr>
          <p:cNvSpPr txBox="1"/>
          <p:nvPr/>
        </p:nvSpPr>
        <p:spPr>
          <a:xfrm>
            <a:off x="1813850" y="6089380"/>
            <a:ext cx="2476982" cy="381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 13. Reference Files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D151C0-1C8E-5969-F2B5-AD86A79C1E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378"/>
          <a:stretch>
            <a:fillRect/>
          </a:stretch>
        </p:blipFill>
        <p:spPr>
          <a:xfrm>
            <a:off x="6499002" y="1862982"/>
            <a:ext cx="5317699" cy="30857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4EF03E-4715-08D6-9546-B428D946A7CA}"/>
              </a:ext>
            </a:extLst>
          </p:cNvPr>
          <p:cNvSpPr txBox="1"/>
          <p:nvPr/>
        </p:nvSpPr>
        <p:spPr>
          <a:xfrm>
            <a:off x="8003691" y="5132030"/>
            <a:ext cx="2476982" cy="381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 14. Role Assignment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389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1E122F-585F-1ECA-B28D-4A17F2D9E3AB}"/>
              </a:ext>
            </a:extLst>
          </p:cNvPr>
          <p:cNvSpPr txBox="1"/>
          <p:nvPr/>
        </p:nvSpPr>
        <p:spPr>
          <a:xfrm>
            <a:off x="300942" y="429586"/>
            <a:ext cx="913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BRONZE LAYER</a:t>
            </a:r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53C759-1E33-C606-634A-58508B1DBE70}"/>
              </a:ext>
            </a:extLst>
          </p:cNvPr>
          <p:cNvSpPr/>
          <p:nvPr/>
        </p:nvSpPr>
        <p:spPr>
          <a:xfrm>
            <a:off x="300942" y="891251"/>
            <a:ext cx="11181144" cy="56021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41AD4-227F-EB56-4F84-5979B34885C3}"/>
              </a:ext>
            </a:extLst>
          </p:cNvPr>
          <p:cNvSpPr txBox="1"/>
          <p:nvPr/>
        </p:nvSpPr>
        <p:spPr>
          <a:xfrm>
            <a:off x="427942" y="660418"/>
            <a:ext cx="9676436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Raw Ingestion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Implemented </a:t>
            </a:r>
            <a:r>
              <a:rPr lang="en-US" altLang="en-US" sz="1600" b="1" dirty="0">
                <a:latin typeface="Arial" panose="020B0604020202020204" pitchFamily="34" charset="0"/>
              </a:rPr>
              <a:t>incremental file ingestion</a:t>
            </a:r>
            <a:r>
              <a:rPr lang="en-US" altLang="en-US" sz="1600" dirty="0">
                <a:latin typeface="Arial" panose="020B0604020202020204" pitchFamily="34" charset="0"/>
              </a:rPr>
              <a:t> using </a:t>
            </a:r>
            <a:r>
              <a:rPr lang="en-US" altLang="en-US" sz="1600" b="1" dirty="0">
                <a:latin typeface="Arial" panose="020B0604020202020204" pitchFamily="34" charset="0"/>
              </a:rPr>
              <a:t>Databricks Auto Loader</a:t>
            </a:r>
            <a:r>
              <a:rPr lang="en-US" altLang="en-US" sz="1600" dirty="0">
                <a:latin typeface="Arial" panose="020B0604020202020204" pitchFamily="34" charset="0"/>
              </a:rPr>
              <a:t> (</a:t>
            </a:r>
            <a:r>
              <a:rPr lang="en-US" altLang="en-US" sz="1600" dirty="0" err="1">
                <a:latin typeface="Arial" panose="020B0604020202020204" pitchFamily="34" charset="0"/>
              </a:rPr>
              <a:t>cloud_files</a:t>
            </a:r>
            <a:r>
              <a:rPr lang="en-US" altLang="en-US" sz="1600" dirty="0">
                <a:latin typeface="Arial" panose="020B0604020202020204" pitchFamily="34" charset="0"/>
              </a:rPr>
              <a:t>)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Source: </a:t>
            </a:r>
            <a:r>
              <a:rPr lang="en-US" altLang="en-US" sz="1600" b="1" dirty="0">
                <a:latin typeface="Arial" panose="020B0604020202020204" pitchFamily="34" charset="0"/>
              </a:rPr>
              <a:t>ADLS → Unity Catalog Volume → Bronze Delta Table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Storage format: </a:t>
            </a:r>
            <a:r>
              <a:rPr lang="en-US" altLang="en-US" sz="1600" b="1" dirty="0">
                <a:latin typeface="Arial" panose="020B0604020202020204" pitchFamily="34" charset="0"/>
              </a:rPr>
              <a:t>Delta Lake</a:t>
            </a:r>
            <a:r>
              <a:rPr lang="en-US" altLang="en-US" sz="1600" dirty="0">
                <a:latin typeface="Arial" panose="020B0604020202020204" pitchFamily="34" charset="0"/>
              </a:rPr>
              <a:t> for ACID compliance and time travel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algn="just"/>
            <a:r>
              <a:rPr lang="en-US" sz="2000" b="1" dirty="0"/>
              <a:t>Schema Management &amp; Data Quality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Schema inference enabled </a:t>
            </a:r>
            <a:r>
              <a:rPr lang="en-US" sz="1600" dirty="0"/>
              <a:t>(</a:t>
            </a:r>
            <a:r>
              <a:rPr lang="en-US" b="1" dirty="0" err="1"/>
              <a:t>cloudFiles.inferColumnTypes</a:t>
            </a:r>
            <a:r>
              <a:rPr lang="en-US" b="1" dirty="0"/>
              <a:t> = true</a:t>
            </a:r>
            <a:r>
              <a:rPr lang="en-US" sz="1600" dirty="0"/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Automatic schema evolution </a:t>
            </a:r>
            <a:r>
              <a:rPr lang="en-US" sz="1600" dirty="0"/>
              <a:t>(</a:t>
            </a:r>
            <a:r>
              <a:rPr lang="en-US" b="1" dirty="0" err="1"/>
              <a:t>schemaEvolutionMode</a:t>
            </a:r>
            <a:r>
              <a:rPr lang="en-US" b="1" dirty="0"/>
              <a:t> = </a:t>
            </a:r>
            <a:r>
              <a:rPr lang="en-US" b="1" dirty="0" err="1"/>
              <a:t>addNewColumns</a:t>
            </a:r>
            <a:r>
              <a:rPr lang="en-US" sz="1600" dirty="0"/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Malformed and unexpected records captured using rescued data column </a:t>
            </a:r>
            <a:r>
              <a:rPr lang="en-US" sz="1050" b="1" dirty="0"/>
              <a:t>(</a:t>
            </a:r>
            <a:r>
              <a:rPr lang="en-US" b="1" dirty="0"/>
              <a:t>_</a:t>
            </a:r>
            <a:r>
              <a:rPr lang="en-US" b="1" dirty="0" err="1"/>
              <a:t>rescued_data</a:t>
            </a:r>
            <a:r>
              <a:rPr lang="en-US" sz="1600" dirty="0"/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Ensures </a:t>
            </a:r>
            <a:r>
              <a:rPr lang="en-US" b="1" dirty="0"/>
              <a:t>schema drift tolerance</a:t>
            </a:r>
            <a:endParaRPr lang="en-US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algn="just"/>
            <a:r>
              <a:rPr lang="en-US" sz="2000" b="1" dirty="0"/>
              <a:t>Metadata &amp; Lineage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ingestion_timestamp</a:t>
            </a:r>
            <a:r>
              <a:rPr lang="en-US" dirty="0"/>
              <a:t> → ingestion audit tracking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source_file</a:t>
            </a:r>
            <a:r>
              <a:rPr lang="en-US" dirty="0"/>
              <a:t> → file-level lineage via _</a:t>
            </a:r>
            <a:r>
              <a:rPr lang="en-US" dirty="0" err="1"/>
              <a:t>metadata.file_path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sz="2000" b="1" dirty="0"/>
              <a:t>Ingestion Control</a:t>
            </a:r>
          </a:p>
          <a:p>
            <a:pPr algn="just"/>
            <a:r>
              <a:rPr lang="en-US" dirty="0"/>
              <a:t>One-time micro-batch execution → </a:t>
            </a:r>
            <a:r>
              <a:rPr lang="en-US" b="1" dirty="0"/>
              <a:t>trigger(</a:t>
            </a:r>
            <a:r>
              <a:rPr lang="en-US" b="1" dirty="0" err="1"/>
              <a:t>availableNow</a:t>
            </a:r>
            <a:r>
              <a:rPr lang="en-US" b="1" dirty="0"/>
              <a:t>=True)</a:t>
            </a:r>
            <a:r>
              <a:rPr lang="en-US" dirty="0"/>
              <a:t> </a:t>
            </a:r>
          </a:p>
          <a:p>
            <a:endParaRPr 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57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3A4E6F-2C54-4EBE-806E-CA95396C199C}"/>
              </a:ext>
            </a:extLst>
          </p:cNvPr>
          <p:cNvSpPr txBox="1"/>
          <p:nvPr/>
        </p:nvSpPr>
        <p:spPr>
          <a:xfrm>
            <a:off x="243068" y="437853"/>
            <a:ext cx="932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SILVER LAYER </a:t>
            </a:r>
            <a:endParaRPr lang="en-IN"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1CF69-439D-8731-324C-875C13CFE0CE}"/>
              </a:ext>
            </a:extLst>
          </p:cNvPr>
          <p:cNvSpPr/>
          <p:nvPr/>
        </p:nvSpPr>
        <p:spPr>
          <a:xfrm>
            <a:off x="243068" y="993307"/>
            <a:ext cx="11065398" cy="5488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89AEA-B533-C9D0-8583-9B6E3DD1D84E}"/>
              </a:ext>
            </a:extLst>
          </p:cNvPr>
          <p:cNvSpPr txBox="1"/>
          <p:nvPr/>
        </p:nvSpPr>
        <p:spPr>
          <a:xfrm>
            <a:off x="347241" y="1267393"/>
            <a:ext cx="9329194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Objective</a:t>
            </a:r>
          </a:p>
          <a:p>
            <a:pPr algn="just"/>
            <a:r>
              <a:rPr lang="en-US" dirty="0"/>
              <a:t>Improve data quality and reliability.</a:t>
            </a:r>
          </a:p>
          <a:p>
            <a:pPr algn="just"/>
            <a:r>
              <a:rPr lang="en-US" dirty="0"/>
              <a:t>Enforce business rules and prepare data for analytics.</a:t>
            </a:r>
          </a:p>
          <a:p>
            <a:pPr algn="just"/>
            <a:endParaRPr lang="en-US" dirty="0"/>
          </a:p>
          <a:p>
            <a:pPr algn="just"/>
            <a:r>
              <a:rPr lang="en-US" sz="2000" b="1" dirty="0"/>
              <a:t>Cleansing , Standardization and Enrichment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Deduplication of transactions.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Primary and Foreign key validation with Auditing.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Handling NULL country and currency values.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Standardization of transactions amount (</a:t>
            </a:r>
            <a:r>
              <a:rPr lang="en-US" b="1" dirty="0"/>
              <a:t>USD</a:t>
            </a:r>
            <a:r>
              <a:rPr lang="en-US" dirty="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Outlier detection using IQR(</a:t>
            </a:r>
            <a:r>
              <a:rPr lang="en-US" b="1" dirty="0"/>
              <a:t>Interquartile Range</a:t>
            </a:r>
            <a:r>
              <a:rPr lang="en-US" dirty="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Fraud flag enrichment.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/>
            <a:r>
              <a:rPr lang="en-IN" sz="2000" b="1" dirty="0"/>
              <a:t>Output</a:t>
            </a:r>
            <a:endParaRPr lang="en-IN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Cleaned and enriched Silver Transactions table.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Change Data Feed (CDF) enabled for incremental processing.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790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520BE1-7993-D1B8-C44E-3BA1EB87D814}"/>
              </a:ext>
            </a:extLst>
          </p:cNvPr>
          <p:cNvSpPr txBox="1"/>
          <p:nvPr/>
        </p:nvSpPr>
        <p:spPr>
          <a:xfrm>
            <a:off x="277790" y="347897"/>
            <a:ext cx="8241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GOLD LAYER : Analytics and Optimization</a:t>
            </a:r>
            <a:endParaRPr lang="en-IN"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4909B3-8848-81D8-2964-7DD67C79165E}"/>
              </a:ext>
            </a:extLst>
          </p:cNvPr>
          <p:cNvSpPr/>
          <p:nvPr/>
        </p:nvSpPr>
        <p:spPr>
          <a:xfrm>
            <a:off x="277792" y="871117"/>
            <a:ext cx="11146421" cy="57475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982257-6250-A8B9-A274-E0475ECECF4F}"/>
              </a:ext>
            </a:extLst>
          </p:cNvPr>
          <p:cNvSpPr txBox="1"/>
          <p:nvPr/>
        </p:nvSpPr>
        <p:spPr>
          <a:xfrm>
            <a:off x="379392" y="1067251"/>
            <a:ext cx="1104482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Designed a Star Schema optimized for analytical queries, moving away from flat files to a relational model.</a:t>
            </a:r>
          </a:p>
          <a:p>
            <a:pPr algn="just"/>
            <a:r>
              <a:rPr lang="en-US" b="1" dirty="0"/>
              <a:t>Architecture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Implemented a standard Fact-Dimension model.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Fact Table: </a:t>
            </a:r>
            <a:r>
              <a:rPr lang="en-US" dirty="0" err="1"/>
              <a:t>fact_transactions</a:t>
            </a:r>
            <a:r>
              <a:rPr lang="en-US" dirty="0"/>
              <a:t> (Contains metrics like amount, </a:t>
            </a:r>
            <a:r>
              <a:rPr lang="en-US" dirty="0" err="1"/>
              <a:t>fraud_flag</a:t>
            </a:r>
            <a:r>
              <a:rPr lang="en-US" dirty="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Dimensions: </a:t>
            </a:r>
            <a:r>
              <a:rPr lang="en-US" dirty="0" err="1"/>
              <a:t>dim_customers</a:t>
            </a:r>
            <a:r>
              <a:rPr lang="en-US" dirty="0"/>
              <a:t> and </a:t>
            </a:r>
            <a:r>
              <a:rPr lang="en-US" dirty="0" err="1"/>
              <a:t>dim_merchants</a:t>
            </a:r>
            <a:r>
              <a:rPr lang="en-US" dirty="0"/>
              <a:t> (Contain context).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r>
              <a:rPr lang="en-US" b="1" dirty="0"/>
              <a:t>SCD Type 2 (History Tracking) : </a:t>
            </a:r>
            <a:r>
              <a:rPr lang="en-US" dirty="0"/>
              <a:t>Applied to </a:t>
            </a:r>
            <a:r>
              <a:rPr lang="en-US" dirty="0" err="1"/>
              <a:t>dim_customers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Technique</a:t>
            </a:r>
          </a:p>
          <a:p>
            <a:pPr algn="just"/>
            <a:r>
              <a:rPr lang="en-US" dirty="0"/>
              <a:t>Used a "Hash Diff" approach. If a customer's </a:t>
            </a:r>
            <a:r>
              <a:rPr lang="en-US" dirty="0" err="1"/>
              <a:t>risk_segment</a:t>
            </a:r>
            <a:r>
              <a:rPr lang="en-US" dirty="0"/>
              <a:t> changes, we close the old record (</a:t>
            </a:r>
            <a:r>
              <a:rPr lang="en-US" dirty="0" err="1"/>
              <a:t>is_current</a:t>
            </a:r>
            <a:r>
              <a:rPr lang="en-US" dirty="0"/>
              <a:t>=False) and insert a new one. This allows us to analyze fraud based on the customer's risk level at the time of the transaction.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SCD Type 1 (Latest State): </a:t>
            </a:r>
            <a:r>
              <a:rPr lang="en-US" dirty="0"/>
              <a:t>Applied to </a:t>
            </a:r>
            <a:r>
              <a:rPr lang="en-US" dirty="0" err="1"/>
              <a:t>dim_merchants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Technique</a:t>
            </a:r>
          </a:p>
          <a:p>
            <a:pPr algn="just"/>
            <a:r>
              <a:rPr lang="en-US" dirty="0"/>
              <a:t>We keep only the latest details for merchants (overwriting old data) since merchant history was deemed less critical for this use case.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Surrogate</a:t>
            </a:r>
            <a:r>
              <a:rPr lang="en-US" dirty="0"/>
              <a:t> </a:t>
            </a:r>
            <a:r>
              <a:rPr lang="en-US" b="1" dirty="0"/>
              <a:t>Keys</a:t>
            </a:r>
          </a:p>
          <a:p>
            <a:pPr algn="just"/>
            <a:r>
              <a:rPr lang="en-US" dirty="0"/>
              <a:t>Generated </a:t>
            </a:r>
            <a:r>
              <a:rPr lang="en-US" dirty="0" err="1"/>
              <a:t>sk</a:t>
            </a:r>
            <a:r>
              <a:rPr lang="en-US" dirty="0"/>
              <a:t> (hashed) keys (e.g., </a:t>
            </a:r>
            <a:r>
              <a:rPr lang="en-US" dirty="0" err="1"/>
              <a:t>customer_sk</a:t>
            </a:r>
            <a:r>
              <a:rPr lang="en-US" dirty="0"/>
              <a:t>) to uniquely identify rows and handle history, completely decoupling our warehouse from source system IDs.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840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E3EB32-A26D-CC57-C687-261B45E2B90B}"/>
              </a:ext>
            </a:extLst>
          </p:cNvPr>
          <p:cNvSpPr txBox="1"/>
          <p:nvPr/>
        </p:nvSpPr>
        <p:spPr>
          <a:xfrm>
            <a:off x="384536" y="438845"/>
            <a:ext cx="8762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GOLD LAYER - Optimization</a:t>
            </a:r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5702CA-2E2A-2745-0B96-F4CC77B554BE}"/>
              </a:ext>
            </a:extLst>
          </p:cNvPr>
          <p:cNvSpPr/>
          <p:nvPr/>
        </p:nvSpPr>
        <p:spPr>
          <a:xfrm>
            <a:off x="384536" y="1115510"/>
            <a:ext cx="10858499" cy="54503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7E743E-3CC8-22E0-A50C-D526DCB7CD4B}"/>
              </a:ext>
            </a:extLst>
          </p:cNvPr>
          <p:cNvSpPr txBox="1"/>
          <p:nvPr/>
        </p:nvSpPr>
        <p:spPr>
          <a:xfrm>
            <a:off x="484367" y="1270000"/>
            <a:ext cx="1047396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Z-Ordering (Clustering)</a:t>
            </a:r>
          </a:p>
          <a:p>
            <a:pPr lvl="1" algn="just"/>
            <a:r>
              <a:rPr lang="en-US" b="1" dirty="0"/>
              <a:t>Code</a:t>
            </a:r>
            <a:r>
              <a:rPr lang="en-US" dirty="0"/>
              <a:t> : OPTIMIZE </a:t>
            </a:r>
            <a:r>
              <a:rPr lang="en-US" dirty="0" err="1"/>
              <a:t>fact_transactions</a:t>
            </a:r>
            <a:r>
              <a:rPr lang="en-US" dirty="0"/>
              <a:t> ZORDER BY (</a:t>
            </a:r>
            <a:r>
              <a:rPr lang="en-US" dirty="0" err="1"/>
              <a:t>customer_fk</a:t>
            </a:r>
            <a:r>
              <a:rPr lang="en-US" dirty="0"/>
              <a:t>, </a:t>
            </a:r>
            <a:r>
              <a:rPr lang="en-US" dirty="0" err="1"/>
              <a:t>merchant_fk</a:t>
            </a:r>
            <a:r>
              <a:rPr lang="en-US" dirty="0"/>
              <a:t>)</a:t>
            </a:r>
          </a:p>
          <a:p>
            <a:pPr lvl="1" algn="just"/>
            <a:r>
              <a:rPr lang="en-US" b="1" dirty="0"/>
              <a:t>Benefit</a:t>
            </a:r>
            <a:r>
              <a:rPr lang="en-US" dirty="0"/>
              <a:t>: Co-locates related data in the same physical files. This speeds up filtering by Customer or Merchant by skipping irrelevant files (Data Skipping).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Partitioning</a:t>
            </a:r>
            <a:endParaRPr lang="en-US" dirty="0"/>
          </a:p>
          <a:p>
            <a:pPr lvl="1" algn="just"/>
            <a:r>
              <a:rPr lang="en-US" b="1" dirty="0"/>
              <a:t>Code </a:t>
            </a:r>
            <a:r>
              <a:rPr lang="en-US" dirty="0"/>
              <a:t>: .</a:t>
            </a:r>
            <a:r>
              <a:rPr lang="en-US" dirty="0" err="1"/>
              <a:t>partitionBy</a:t>
            </a:r>
            <a:r>
              <a:rPr lang="en-US" dirty="0"/>
              <a:t>("</a:t>
            </a:r>
            <a:r>
              <a:rPr lang="en-US" dirty="0" err="1"/>
              <a:t>date_key</a:t>
            </a:r>
            <a:r>
              <a:rPr lang="en-US" dirty="0"/>
              <a:t>")</a:t>
            </a:r>
          </a:p>
          <a:p>
            <a:pPr lvl="1" algn="just"/>
            <a:r>
              <a:rPr lang="en-US" b="1" dirty="0"/>
              <a:t>Benefit </a:t>
            </a:r>
            <a:r>
              <a:rPr lang="en-US" dirty="0"/>
              <a:t>: Allows queries to target specific days (Partition Pruning) instead of scanning the entire history.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Broadcast Joins</a:t>
            </a:r>
            <a:endParaRPr lang="en-US" dirty="0"/>
          </a:p>
          <a:p>
            <a:pPr lvl="1" algn="just"/>
            <a:r>
              <a:rPr lang="en-US" b="1" dirty="0"/>
              <a:t>Code</a:t>
            </a:r>
            <a:r>
              <a:rPr lang="en-US" dirty="0"/>
              <a:t> : .join(broadcast(</a:t>
            </a:r>
            <a:r>
              <a:rPr lang="en-US" dirty="0" err="1"/>
              <a:t>dim_cust_active</a:t>
            </a:r>
            <a:r>
              <a:rPr lang="en-US" dirty="0"/>
              <a:t>)…)</a:t>
            </a:r>
          </a:p>
          <a:p>
            <a:pPr lvl="1" algn="just"/>
            <a:r>
              <a:rPr lang="en-US" b="1" dirty="0"/>
              <a:t>Benefit </a:t>
            </a:r>
            <a:r>
              <a:rPr lang="en-US" dirty="0"/>
              <a:t>: Sends the small Dimension tables to all worker nodes instantly, eliminating expensive "Shuffles" of the massive Fact table during the join.</a:t>
            </a:r>
          </a:p>
          <a:p>
            <a:pPr lvl="1"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CDC (Change Data Capture) via MERGE</a:t>
            </a:r>
          </a:p>
          <a:p>
            <a:pPr lvl="1" algn="just"/>
            <a:r>
              <a:rPr lang="en-US" b="1" dirty="0"/>
              <a:t>Code </a:t>
            </a:r>
            <a:r>
              <a:rPr lang="en-US" dirty="0"/>
              <a:t>: MERGE INTO ... WHEN MATCHED UPDATE ...</a:t>
            </a:r>
          </a:p>
          <a:p>
            <a:pPr lvl="1" algn="just"/>
            <a:r>
              <a:rPr lang="en-US" b="1" dirty="0"/>
              <a:t>Benefit </a:t>
            </a:r>
            <a:r>
              <a:rPr lang="en-US" dirty="0"/>
              <a:t>: Instead of rewriting the whole table every day, we only touch rows that changed or are new (</a:t>
            </a:r>
            <a:r>
              <a:rPr lang="en-US" dirty="0" err="1"/>
              <a:t>Upsert</a:t>
            </a:r>
            <a:r>
              <a:rPr lang="en-US" dirty="0"/>
              <a:t> strategy).</a:t>
            </a:r>
          </a:p>
          <a:p>
            <a:pPr lvl="1"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838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639559-DD61-230A-F51D-FD5ACC9888BE}"/>
              </a:ext>
            </a:extLst>
          </p:cNvPr>
          <p:cNvSpPr txBox="1"/>
          <p:nvPr/>
        </p:nvSpPr>
        <p:spPr>
          <a:xfrm>
            <a:off x="396110" y="348129"/>
            <a:ext cx="8345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GOLD LAYER</a:t>
            </a:r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675AE8-AE53-EC06-1B84-12E6E969EA78}"/>
              </a:ext>
            </a:extLst>
          </p:cNvPr>
          <p:cNvSpPr/>
          <p:nvPr/>
        </p:nvSpPr>
        <p:spPr>
          <a:xfrm>
            <a:off x="401255" y="935270"/>
            <a:ext cx="11368269" cy="55746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A9C51D-9CB0-B81D-44F5-AC27B4F7C789}"/>
              </a:ext>
            </a:extLst>
          </p:cNvPr>
          <p:cNvSpPr txBox="1"/>
          <p:nvPr/>
        </p:nvSpPr>
        <p:spPr>
          <a:xfrm>
            <a:off x="422476" y="820969"/>
            <a:ext cx="112107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Change Data Feed (CDF)</a:t>
            </a:r>
          </a:p>
          <a:p>
            <a:pPr lvl="1" algn="just"/>
            <a:r>
              <a:rPr lang="en-US" b="1" dirty="0"/>
              <a:t>Code</a:t>
            </a:r>
            <a:r>
              <a:rPr lang="en-US" dirty="0"/>
              <a:t>: TBLPROPERTIES (</a:t>
            </a:r>
            <a:r>
              <a:rPr lang="en-US" dirty="0" err="1"/>
              <a:t>delta.enableChangeDataFeed</a:t>
            </a:r>
            <a:r>
              <a:rPr lang="en-US" dirty="0"/>
              <a:t> = true)</a:t>
            </a:r>
          </a:p>
          <a:p>
            <a:pPr lvl="1" algn="just"/>
            <a:r>
              <a:rPr lang="en-US" b="1" dirty="0"/>
              <a:t>Benefit</a:t>
            </a:r>
            <a:r>
              <a:rPr lang="en-US" dirty="0"/>
              <a:t>: Enables downstream systems to stream only the changes from our Gold table, future-proofing the architecture.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Vacuum</a:t>
            </a:r>
          </a:p>
          <a:p>
            <a:pPr lvl="1" algn="just"/>
            <a:r>
              <a:rPr lang="en-US" b="1" dirty="0"/>
              <a:t>Code</a:t>
            </a:r>
            <a:r>
              <a:rPr lang="en-US" dirty="0"/>
              <a:t>: VACUUM ... RETAIN 168 HOURS</a:t>
            </a:r>
          </a:p>
          <a:p>
            <a:pPr lvl="1" algn="just"/>
            <a:r>
              <a:rPr lang="en-US" b="1" dirty="0"/>
              <a:t>Benefit</a:t>
            </a:r>
            <a:r>
              <a:rPr lang="en-US" dirty="0"/>
              <a:t>: Removes obsolete files to save storage costs and keep metadata clean.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07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90BBC-A4C4-FD31-D540-09F83809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2F01B5-B89A-ECCD-1B7C-7F049FBEF728}"/>
              </a:ext>
            </a:extLst>
          </p:cNvPr>
          <p:cNvSpPr txBox="1"/>
          <p:nvPr/>
        </p:nvSpPr>
        <p:spPr>
          <a:xfrm>
            <a:off x="401255" y="382751"/>
            <a:ext cx="8345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BI DASHBOARD</a:t>
            </a:r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8AB8C7-4187-6C18-CBDB-9CE3BF3E9485}"/>
              </a:ext>
            </a:extLst>
          </p:cNvPr>
          <p:cNvSpPr/>
          <p:nvPr/>
        </p:nvSpPr>
        <p:spPr>
          <a:xfrm>
            <a:off x="401255" y="935269"/>
            <a:ext cx="11368269" cy="55861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706D7-2D6C-8E6D-3486-716086A701A3}"/>
              </a:ext>
            </a:extLst>
          </p:cNvPr>
          <p:cNvSpPr txBox="1"/>
          <p:nvPr/>
        </p:nvSpPr>
        <p:spPr>
          <a:xfrm>
            <a:off x="480027" y="1166842"/>
            <a:ext cx="1121072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For the visualization layer (Power BI), we made a specific architectural choice to ensure speed.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View Type </a:t>
            </a:r>
            <a:r>
              <a:rPr lang="en-US" dirty="0"/>
              <a:t>: Materialized View (Pre-Aggregated Table)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/>
            <a:r>
              <a:rPr lang="en-US" dirty="0"/>
              <a:t>We did not use a standard "Normal View" (Virtual View). Querying the raw Fact table (millions of rows) every time a user opens the dashboard is too slow and costly.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Implementation</a:t>
            </a:r>
            <a:r>
              <a:rPr lang="en-US" dirty="0"/>
              <a:t> : We created a physical Delta table </a:t>
            </a:r>
            <a:r>
              <a:rPr lang="en-US" dirty="0" err="1"/>
              <a:t>bi_daily_sales_summary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Result</a:t>
            </a:r>
            <a:r>
              <a:rPr lang="en-US" dirty="0"/>
              <a:t> : The heavy aggregation logic (Sums, Averages, Counts) runs once in Databricks. Power BI then reads this tiny, pre-calculated table instantly.</a:t>
            </a:r>
          </a:p>
          <a:p>
            <a:pPr algn="just"/>
            <a:endParaRPr lang="en-US" dirty="0"/>
          </a:p>
          <a:p>
            <a:pPr algn="just"/>
            <a:r>
              <a:rPr lang="en-US" sz="2000" b="1" dirty="0"/>
              <a:t>Dashboard Components Built:</a:t>
            </a:r>
          </a:p>
          <a:p>
            <a:pPr algn="just"/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Executive KPI View : </a:t>
            </a:r>
            <a:r>
              <a:rPr lang="en-US" dirty="0"/>
              <a:t>Daily Sales, Fraud Rates, and Trends (Source: </a:t>
            </a:r>
            <a:r>
              <a:rPr lang="en-US" dirty="0" err="1"/>
              <a:t>bi_daily_sales_summary</a:t>
            </a:r>
            <a:r>
              <a:rPr lang="en-US" dirty="0"/>
              <a:t>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Operational Alert View </a:t>
            </a:r>
            <a:r>
              <a:rPr lang="en-US" dirty="0"/>
              <a:t>: List of flagged transactions for immediate action (Source: </a:t>
            </a:r>
            <a:r>
              <a:rPr lang="en-US" dirty="0" err="1"/>
              <a:t>suspicious_activity_report</a:t>
            </a:r>
            <a:r>
              <a:rPr lang="en-US" dirty="0"/>
              <a:t>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Customer 360 View </a:t>
            </a:r>
            <a:r>
              <a:rPr lang="en-US" dirty="0"/>
              <a:t>: Deep dive into individual customer behavior (Source: customer_360_profile).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46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F6E4-94CF-06D6-46F9-0CEE2ED2E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089" y="580834"/>
            <a:ext cx="8937171" cy="590931"/>
          </a:xfrm>
        </p:spPr>
        <p:txBody>
          <a:bodyPr/>
          <a:lstStyle/>
          <a:p>
            <a:r>
              <a:rPr lang="en-IN" sz="3600" dirty="0"/>
              <a:t>DASHBOARDS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A819F4-0185-9903-01A0-9F034ABEB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793" y="1772888"/>
            <a:ext cx="5721816" cy="4373912"/>
          </a:xfrm>
          <a:prstGeom prst="rect">
            <a:avLst/>
          </a:prstGeom>
        </p:spPr>
      </p:pic>
      <p:sp>
        <p:nvSpPr>
          <p:cNvPr id="5" name="AutoShape 2" descr="Image preview">
            <a:extLst>
              <a:ext uri="{FF2B5EF4-FFF2-40B4-BE49-F238E27FC236}">
                <a16:creationId xmlns:a16="http://schemas.microsoft.com/office/drawing/2014/main" id="{2EAFA514-7D90-847A-629A-2CE01EB826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Image preview">
            <a:extLst>
              <a:ext uri="{FF2B5EF4-FFF2-40B4-BE49-F238E27FC236}">
                <a16:creationId xmlns:a16="http://schemas.microsoft.com/office/drawing/2014/main" id="{0D3B2595-86B5-8A7A-640D-DCCBECEF11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706072-1A0F-19FE-86C5-A82F24BA0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71" y="1772888"/>
            <a:ext cx="5304410" cy="43104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AB736E-FABA-9C90-9A06-1DBC0D90737C}"/>
              </a:ext>
            </a:extLst>
          </p:cNvPr>
          <p:cNvSpPr txBox="1"/>
          <p:nvPr/>
        </p:nvSpPr>
        <p:spPr>
          <a:xfrm>
            <a:off x="1587500" y="6146800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15. Dashboard 1</a:t>
            </a:r>
          </a:p>
        </p:txBody>
      </p:sp>
      <p:sp>
        <p:nvSpPr>
          <p:cNvPr id="11" name="AutoShape 6" descr="Image preview">
            <a:extLst>
              <a:ext uri="{FF2B5EF4-FFF2-40B4-BE49-F238E27FC236}">
                <a16:creationId xmlns:a16="http://schemas.microsoft.com/office/drawing/2014/main" id="{2679A146-2B8B-C1B7-3FF6-93885F313A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311F6F-5B8E-59DC-AC1D-94CD16F528DE}"/>
              </a:ext>
            </a:extLst>
          </p:cNvPr>
          <p:cNvSpPr txBox="1"/>
          <p:nvPr/>
        </p:nvSpPr>
        <p:spPr>
          <a:xfrm>
            <a:off x="7542451" y="6146800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16. Dashboard 2</a:t>
            </a:r>
          </a:p>
        </p:txBody>
      </p:sp>
    </p:spTree>
    <p:extLst>
      <p:ext uri="{BB962C8B-B14F-4D97-AF65-F5344CB8AC3E}">
        <p14:creationId xmlns:p14="http://schemas.microsoft.com/office/powerpoint/2010/main" val="873436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38344-EC86-1CA6-3C29-7E483BD12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666" y="502942"/>
            <a:ext cx="8937171" cy="480131"/>
          </a:xfrm>
        </p:spPr>
        <p:txBody>
          <a:bodyPr/>
          <a:lstStyle/>
          <a:p>
            <a:r>
              <a:rPr lang="en-US" sz="2800" dirty="0"/>
              <a:t>CHALLENGES FACED</a:t>
            </a:r>
            <a:endParaRPr lang="en-IN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29E382-DABA-99CD-31C8-CEE4B34CBD6F}"/>
              </a:ext>
            </a:extLst>
          </p:cNvPr>
          <p:cNvSpPr/>
          <p:nvPr/>
        </p:nvSpPr>
        <p:spPr>
          <a:xfrm>
            <a:off x="335666" y="1117599"/>
            <a:ext cx="11262167" cy="51181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C1B70-5C29-215D-DF42-AB0CDDB8ADEA}"/>
              </a:ext>
            </a:extLst>
          </p:cNvPr>
          <p:cNvSpPr txBox="1"/>
          <p:nvPr/>
        </p:nvSpPr>
        <p:spPr>
          <a:xfrm>
            <a:off x="335666" y="1328677"/>
            <a:ext cx="11262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04D57-FDC8-CA60-73C4-730BC1FCDDA6}"/>
              </a:ext>
            </a:extLst>
          </p:cNvPr>
          <p:cNvSpPr txBox="1"/>
          <p:nvPr/>
        </p:nvSpPr>
        <p:spPr>
          <a:xfrm>
            <a:off x="464916" y="863599"/>
            <a:ext cx="10660283" cy="4438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IN" sz="2400" dirty="0"/>
          </a:p>
          <a:p>
            <a:pPr algn="just">
              <a:lnSpc>
                <a:spcPct val="200000"/>
              </a:lnSpc>
            </a:pPr>
            <a:r>
              <a:rPr lang="en-IN" sz="2000" b="1" dirty="0"/>
              <a:t>Schema Drift</a:t>
            </a:r>
            <a:r>
              <a:rPr lang="en-IN" sz="2000" dirty="0"/>
              <a:t>: Unexpected new columns caused pipeline breakages.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Data</a:t>
            </a:r>
            <a:r>
              <a:rPr lang="en-IN" sz="2000" dirty="0"/>
              <a:t> </a:t>
            </a:r>
            <a:r>
              <a:rPr lang="en-IN" sz="2000" b="1" dirty="0"/>
              <a:t>Quality Issues</a:t>
            </a:r>
            <a:r>
              <a:rPr lang="en-IN" sz="2000" dirty="0"/>
              <a:t>: Malformed records led to ingestion failures and risk of data loss.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Duplicate Ingestion</a:t>
            </a:r>
            <a:r>
              <a:rPr lang="en-IN" sz="2000" dirty="0"/>
              <a:t>: Re‑uploaded files created duplicate transaction records.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Loss of History</a:t>
            </a:r>
            <a:r>
              <a:rPr lang="en-IN" sz="2000" dirty="0"/>
              <a:t>: Standard updates overwrote historical customer profile changes.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Slow Query Performance</a:t>
            </a:r>
            <a:r>
              <a:rPr lang="en-IN" sz="2000" dirty="0"/>
              <a:t>: Large Fact tables caused sluggish joins with Dimensions.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High Dashboard Latency</a:t>
            </a:r>
            <a:r>
              <a:rPr lang="en-IN" sz="2000" dirty="0"/>
              <a:t>: Power BI queries on granular data were slow and costly.</a:t>
            </a:r>
          </a:p>
        </p:txBody>
      </p:sp>
    </p:spTree>
    <p:extLst>
      <p:ext uri="{BB962C8B-B14F-4D97-AF65-F5344CB8AC3E}">
        <p14:creationId xmlns:p14="http://schemas.microsoft.com/office/powerpoint/2010/main" val="4262198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70F8-B79C-FC91-F1FE-0F1037477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891" y="3338921"/>
            <a:ext cx="8937171" cy="757130"/>
          </a:xfrm>
        </p:spPr>
        <p:txBody>
          <a:bodyPr/>
          <a:lstStyle/>
          <a:p>
            <a:r>
              <a:rPr lang="en-IN" dirty="0"/>
              <a:t>			    THANK YOU</a:t>
            </a:r>
          </a:p>
        </p:txBody>
      </p:sp>
    </p:spTree>
    <p:extLst>
      <p:ext uri="{BB962C8B-B14F-4D97-AF65-F5344CB8AC3E}">
        <p14:creationId xmlns:p14="http://schemas.microsoft.com/office/powerpoint/2010/main" val="2528581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M">
      <a:dk1>
        <a:srgbClr val="595959"/>
      </a:dk1>
      <a:lt1>
        <a:srgbClr val="FFFFFF"/>
      </a:lt1>
      <a:dk2>
        <a:srgbClr val="000000"/>
      </a:dk2>
      <a:lt2>
        <a:srgbClr val="FFFFFF"/>
      </a:lt2>
      <a:accent1>
        <a:srgbClr val="BCD9F3"/>
      </a:accent1>
      <a:accent2>
        <a:srgbClr val="97C4EC"/>
      </a:accent2>
      <a:accent3>
        <a:srgbClr val="60A5E2"/>
      </a:accent3>
      <a:accent4>
        <a:srgbClr val="EF7C00"/>
      </a:accent4>
      <a:accent5>
        <a:srgbClr val="C8CA05"/>
      </a:accent5>
      <a:accent6>
        <a:srgbClr val="33682B"/>
      </a:accent6>
      <a:hlink>
        <a:srgbClr val="64B3E3"/>
      </a:hlink>
      <a:folHlink>
        <a:srgbClr val="004683"/>
      </a:folHlink>
    </a:clrScheme>
    <a:fontScheme name="Frutiger">
      <a:majorFont>
        <a:latin typeface="Frutiger 45 bold"/>
        <a:ea typeface=""/>
        <a:cs typeface=""/>
      </a:majorFont>
      <a:minorFont>
        <a:latin typeface="Frutiger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TIMindtree PowerPoint Template  -  Read-Only" id="{D2D078E9-0747-433B-9A53-87E4E1206723}" vid="{02E04BAB-B372-49B2-8DFC-CCA9479795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8563cb8-e9e3-40d4-951f-126d0c29510d">QUMXH5H4ZXKS-875811578-11</_dlc_DocId>
    <_dlc_DocIdUrl xmlns="88563cb8-e9e3-40d4-951f-126d0c29510d">
      <Url>https://mindtreeonline.sharepoint.com/sites/LTIMindtree-Corporate-Templates/_layouts/15/DocIdRedir.aspx?ID=QUMXH5H4ZXKS-875811578-11</Url>
      <Description>QUMXH5H4ZXKS-875811578-11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E668FDB297BA418F5A6539855E71B7" ma:contentTypeVersion="3" ma:contentTypeDescription="Create a new document." ma:contentTypeScope="" ma:versionID="4294c225a3417baf4b70885d580e1778">
  <xsd:schema xmlns:xsd="http://www.w3.org/2001/XMLSchema" xmlns:xs="http://www.w3.org/2001/XMLSchema" xmlns:p="http://schemas.microsoft.com/office/2006/metadata/properties" xmlns:ns2="88563cb8-e9e3-40d4-951f-126d0c29510d" xmlns:ns3="dc0ddbac-d92f-4135-ae82-46af643a22eb" targetNamespace="http://schemas.microsoft.com/office/2006/metadata/properties" ma:root="true" ma:fieldsID="4f00704ce9a2416b2cdaa5d136de8e77" ns2:_="" ns3:_="">
    <xsd:import namespace="88563cb8-e9e3-40d4-951f-126d0c29510d"/>
    <xsd:import namespace="dc0ddbac-d92f-4135-ae82-46af643a22e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63cb8-e9e3-40d4-951f-126d0c29510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0ddbac-d92f-4135-ae82-46af643a2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55CB52-33A3-4B47-8C1D-0EE24875E3DC}">
  <ds:schemaRefs>
    <ds:schemaRef ds:uri="http://schemas.microsoft.com/office/2006/documentManagement/types"/>
    <ds:schemaRef ds:uri="http://purl.org/dc/terms/"/>
    <ds:schemaRef ds:uri="88563cb8-e9e3-40d4-951f-126d0c29510d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dcmitype/"/>
    <ds:schemaRef ds:uri="dc0ddbac-d92f-4135-ae82-46af643a22e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ACBCD0B-8E49-473F-9B37-931C1D238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C474493-4661-4534-A819-8424B96FDD6F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LTIMindtree PowerPoint Template - Capstone Project</Template>
  <TotalTime>1327</TotalTime>
  <Words>1391</Words>
  <Application>Microsoft Office PowerPoint</Application>
  <PresentationFormat>Widescreen</PresentationFormat>
  <Paragraphs>158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Frutiger 45 bold</vt:lpstr>
      <vt:lpstr>Frutiger 45 Light</vt:lpstr>
      <vt:lpstr>Frutiger LT Pro 45 Light</vt:lpstr>
      <vt:lpstr>Frutiger LT Pro 55 Roman</vt:lpstr>
      <vt:lpstr>Symbol</vt:lpstr>
      <vt:lpstr>Wingdings</vt:lpstr>
      <vt:lpstr>Office Theme</vt:lpstr>
      <vt:lpstr>Card Transaction Fraud Monitoring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DASHBOARDS</vt:lpstr>
      <vt:lpstr>CHALLENGES FACED</vt:lpstr>
      <vt:lpstr>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Damodar Bapat</dc:creator>
  <cp:lastModifiedBy>Abhishek Damodar Bapat</cp:lastModifiedBy>
  <cp:revision>52</cp:revision>
  <dcterms:created xsi:type="dcterms:W3CDTF">2026-02-04T11:01:58Z</dcterms:created>
  <dcterms:modified xsi:type="dcterms:W3CDTF">2026-02-07T09:50:06Z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0x0101001EE668FDB297BA418F5A6539855E71B7</vt:lpwstr>
  </property>
  <property fmtid="{D5CDD505-2E9C-101B-9397-08002B2CF9AE}" pid="3" name="_dlc_DocIdItemGuid">
    <vt:lpwstr>36da67c7-b504-4aea-865b-0e87cedc899d</vt:lpwstr>
  </property>
</Properties>
</file>